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Plus Jakarta Sans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smtClean="0"/>
              <a:t>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" Target="slide4.xml"/><Relationship Id="rId7" Type="http://schemas.openxmlformats.org/officeDocument/2006/relationships/image" Target="../media/image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619750"/>
            <a:ext cx="109728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09600" y="56197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>
            <a:hlinkClick r:id="" action="ppaction://hlinkshowjump?jump=nextslide"/>
          </p:cNvPr>
          <p:cNvSpPr/>
          <p:nvPr/>
        </p:nvSpPr>
        <p:spPr>
          <a:xfrm>
            <a:off x="614131" y="3473248"/>
            <a:ext cx="2152650" cy="428625"/>
          </a:xfrm>
          <a:prstGeom prst="roundRect">
            <a:avLst>
              <a:gd name="adj" fmla="val 1777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2107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Arial"/>
              </a:rPr>
              <a:t>PROJEKT BEMUTATÓ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72675" y="609600"/>
            <a:ext cx="2012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Arial"/>
              </a:rPr>
              <a:t>Python CLI </a:t>
            </a:r>
            <a:r>
              <a:rPr sz="1200" b="0" i="0" u="none" dirty="0" err="1">
                <a:solidFill>
                  <a:srgbClr val="94A3B8"/>
                </a:solidFill>
                <a:latin typeface="Arial"/>
              </a:rPr>
              <a:t>Alkalmazás</a:t>
            </a:r>
            <a:endParaRPr sz="1200" b="0" i="0" u="none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5819775"/>
            <a:ext cx="2571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64748B"/>
                </a:solidFill>
                <a:latin typeface="Arial"/>
              </a:rPr>
              <a:t>Készítők</a:t>
            </a:r>
            <a:r>
              <a:rPr sz="1050" b="0" i="0" u="none" dirty="0">
                <a:solidFill>
                  <a:srgbClr val="64748B"/>
                </a:solidFill>
                <a:latin typeface="Arial"/>
              </a:rPr>
              <a:t> / </a:t>
            </a:r>
            <a:r>
              <a:rPr sz="1050" b="0" i="0" u="none" dirty="0" err="1">
                <a:solidFill>
                  <a:srgbClr val="64748B"/>
                </a:solidFill>
                <a:latin typeface="Arial"/>
              </a:rPr>
              <a:t>Fejlesztők</a:t>
            </a:r>
            <a:r>
              <a:rPr sz="1050" b="0" i="0" u="none" dirty="0">
                <a:solidFill>
                  <a:srgbClr val="64748B"/>
                </a:solidFill>
                <a:latin typeface="Arial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29325"/>
            <a:ext cx="199048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hu-HU" sz="1350" b="1" dirty="0">
                <a:solidFill>
                  <a:srgbClr val="F8FAFC"/>
                </a:solidFill>
                <a:latin typeface="Arial"/>
              </a:rPr>
              <a:t>Pénzes Dávid és Nagy Bálint</a:t>
            </a:r>
            <a:endParaRPr sz="135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84556" y="5829300"/>
            <a:ext cx="1797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i="0" u="none" dirty="0" err="1">
                <a:solidFill>
                  <a:srgbClr val="64748B"/>
                </a:solidFill>
                <a:latin typeface="Arial"/>
              </a:rPr>
              <a:t>Adatforrás</a:t>
            </a:r>
            <a:r>
              <a:rPr sz="1050" b="0" i="0" u="none" dirty="0">
                <a:solidFill>
                  <a:srgbClr val="64748B"/>
                </a:solidFill>
                <a:latin typeface="Arial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556" y="6038850"/>
            <a:ext cx="1797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 u="none" dirty="0">
                <a:solidFill>
                  <a:srgbClr val="CBD5E1"/>
                </a:solidFill>
                <a:latin typeface="Arial"/>
              </a:rPr>
              <a:t>lakossag_2025.csv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649" y="3595227"/>
            <a:ext cx="148161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latin typeface="Arial"/>
              </a:rPr>
              <a:t>Főmenü megnyitása</a:t>
            </a:r>
            <a:endParaRPr sz="1200" b="1" i="0" dirty="0">
              <a:latin typeface="Arial"/>
              <a:hlinkClick r:id="rId2" action="ppaction://hlinksldjump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</p:txBody>
      </p:sp>
      <p:pic>
        <p:nvPicPr>
          <p:cNvPr id="17" name="Kép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315" y="1634377"/>
            <a:ext cx="6270085" cy="33701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09600" y="1941314"/>
            <a:ext cx="6340792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 dirty="0">
                <a:solidFill>
                  <a:srgbClr val="F8FAFC"/>
                </a:solidFill>
                <a:latin typeface="Arial"/>
              </a:rPr>
              <a:t>2025-ös </a:t>
            </a:r>
            <a:r>
              <a:rPr sz="3600" b="1" i="0" u="none" dirty="0" err="1">
                <a:solidFill>
                  <a:srgbClr val="F8FAFC"/>
                </a:solidFill>
                <a:latin typeface="Arial"/>
              </a:rPr>
              <a:t>Lakossági</a:t>
            </a:r>
            <a:r>
              <a:rPr sz="3600" b="1" i="0" u="none" dirty="0">
                <a:solidFill>
                  <a:srgbClr val="F8FAFC"/>
                </a:solidFill>
                <a:latin typeface="Arial"/>
              </a:rPr>
              <a:t> </a:t>
            </a:r>
            <a:r>
              <a:rPr sz="3600" b="1" i="0" u="none" dirty="0" err="1">
                <a:solidFill>
                  <a:srgbClr val="F8FAFC"/>
                </a:solidFill>
                <a:latin typeface="Arial"/>
              </a:rPr>
              <a:t>Adatfeldolgozó</a:t>
            </a:r>
            <a:r>
              <a:rPr sz="3600" b="1" i="0" u="none" dirty="0">
                <a:solidFill>
                  <a:srgbClr val="F8FAFC"/>
                </a:solidFill>
                <a:latin typeface="Arial"/>
              </a:rPr>
              <a:t>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09600" y="4909145"/>
            <a:ext cx="50958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396038" y="4899620"/>
            <a:ext cx="50958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4343400" y="5204420"/>
            <a:ext cx="1123950" cy="361950"/>
          </a:xfrm>
          <a:prstGeom prst="roundRect">
            <a:avLst>
              <a:gd name="adj" fmla="val 2105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>
            <a:hlinkClick r:id="rId3" action="ppaction://hlinksldjump"/>
          </p:cNvPr>
          <p:cNvSpPr/>
          <p:nvPr/>
        </p:nvSpPr>
        <p:spPr>
          <a:xfrm>
            <a:off x="10129838" y="5221726"/>
            <a:ext cx="1123950" cy="361950"/>
          </a:xfrm>
          <a:prstGeom prst="roundRect">
            <a:avLst>
              <a:gd name="adj" fmla="val 2105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5" y="5318720"/>
            <a:ext cx="85725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5663" y="5333008"/>
            <a:ext cx="857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225" y="4933950"/>
            <a:ext cx="857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5185370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163" y="5175845"/>
            <a:ext cx="21907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457200"/>
            <a:ext cx="4750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Arial"/>
              </a:rPr>
              <a:t>INTERAKTÍV MENÜ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28650"/>
            <a:ext cx="498812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Főképernyő</a:t>
            </a:r>
            <a:r>
              <a:rPr sz="2400" b="1" i="0" u="none" dirty="0">
                <a:solidFill>
                  <a:srgbClr val="0F172A"/>
                </a:solidFill>
                <a:latin typeface="Arial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és</a:t>
            </a:r>
            <a:r>
              <a:rPr sz="2400" b="1" i="0" u="none" dirty="0">
                <a:solidFill>
                  <a:srgbClr val="0F172A"/>
                </a:solidFill>
                <a:latin typeface="Arial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Navigáció</a:t>
            </a:r>
            <a:endParaRPr sz="2400" b="1" i="0" u="none" dirty="0">
              <a:solidFill>
                <a:srgbClr val="0F172A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38662" y="5295078"/>
            <a:ext cx="733425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u="none" dirty="0">
                <a:solidFill>
                  <a:schemeClr val="bg1"/>
                </a:solidFill>
                <a:latin typeface="Arial"/>
              </a:rPr>
              <a:t>Részletek</a:t>
            </a:r>
            <a:endParaRPr sz="1050" b="1" u="none" dirty="0">
              <a:solidFill>
                <a:schemeClr val="bg1"/>
              </a:solidFill>
              <a:latin typeface="Arial"/>
              <a:hlinkClick r:id="rId2" action="ppaction://hlinksldjump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20337" y="5304603"/>
            <a:ext cx="733425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 dirty="0">
                <a:solidFill>
                  <a:schemeClr val="bg1"/>
                </a:solidFill>
                <a:latin typeface="Arial"/>
              </a:rPr>
              <a:t>Részletek</a:t>
            </a:r>
            <a:endParaRPr sz="1050" b="1" i="0" u="none" dirty="0">
              <a:solidFill>
                <a:schemeClr val="bg1"/>
              </a:solidFill>
              <a:latin typeface="Arial"/>
              <a:hlinkClick r:id="rId2" action="ppaction://hlinksldjump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7725" y="5147270"/>
            <a:ext cx="1710405" cy="230832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Arial"/>
              </a:rPr>
              <a:t>1. </a:t>
            </a:r>
            <a:r>
              <a:rPr lang="hu-HU" sz="1500" b="1" dirty="0" smtClean="0">
                <a:solidFill>
                  <a:srgbClr val="0F172A"/>
                </a:solidFill>
                <a:latin typeface="Arial"/>
              </a:rPr>
              <a:t>Megye adatai</a:t>
            </a:r>
            <a:endParaRPr sz="1500" b="1" i="0" u="none" dirty="0">
              <a:solidFill>
                <a:srgbClr val="0F172A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7725" y="5442546"/>
            <a:ext cx="34004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hu-HU" sz="1000" dirty="0">
                <a:latin typeface="Arial" panose="020B0604020202020204" pitchFamily="34" charset="0"/>
                <a:cs typeface="Arial" panose="020B0604020202020204" pitchFamily="34" charset="0"/>
              </a:rPr>
              <a:t>A megye kódjának megadásával kiválasztjuk, hogy melyik megyére vonatkozó adatok érdekelnek</a:t>
            </a:r>
            <a:r>
              <a:rPr sz="1000" b="0" i="0" u="none" dirty="0" smtClean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000" b="0" i="0" u="none" dirty="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34163" y="5137745"/>
            <a:ext cx="2074414" cy="230832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Arial"/>
              </a:rPr>
              <a:t>2. </a:t>
            </a:r>
            <a:r>
              <a:rPr lang="hu-HU" sz="1500" b="1" dirty="0" smtClean="0">
                <a:solidFill>
                  <a:srgbClr val="0F172A"/>
                </a:solidFill>
                <a:latin typeface="Arial"/>
              </a:rPr>
              <a:t>Település típusai</a:t>
            </a:r>
            <a:endParaRPr sz="1500" b="1" i="0" u="none" dirty="0">
              <a:solidFill>
                <a:srgbClr val="0F172A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35045" y="5451045"/>
            <a:ext cx="2556790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hu-HU" sz="1000" dirty="0">
                <a:latin typeface="Arial" panose="020B0604020202020204" pitchFamily="34" charset="0"/>
                <a:cs typeface="Arial" panose="020B0604020202020204" pitchFamily="34" charset="0"/>
              </a:rPr>
              <a:t>A településtípus menüből történő kiválasztás</a:t>
            </a:r>
            <a:r>
              <a:rPr sz="1000" b="0" i="0" u="none" dirty="0" smtClean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000" b="0" i="0" u="none" dirty="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Kép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2927" y="1632047"/>
            <a:ext cx="9218998" cy="29722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hlinkClick r:id="rId2" action="ppaction://hlinksldjump"/>
          </p:cNvPr>
          <p:cNvSpPr/>
          <p:nvPr/>
        </p:nvSpPr>
        <p:spPr>
          <a:xfrm>
            <a:off x="9944100" y="547687"/>
            <a:ext cx="1638300" cy="371475"/>
          </a:xfrm>
          <a:prstGeom prst="roundRect">
            <a:avLst>
              <a:gd name="adj" fmla="val 1538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550" y="661987"/>
            <a:ext cx="1238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25" y="2541320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25" y="3131870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25" y="3722420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15575" y="646862"/>
            <a:ext cx="1190625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 dirty="0" smtClean="0">
                <a:latin typeface="Arial"/>
              </a:rPr>
              <a:t>Vi</a:t>
            </a:r>
            <a:r>
              <a:rPr lang="hu-HU" sz="1125" b="1" i="0" u="none" dirty="0" smtClean="0">
                <a:latin typeface="Arial"/>
              </a:rPr>
              <a:t>ssza</a:t>
            </a:r>
            <a:r>
              <a:rPr sz="1125" b="1" i="0" u="none" dirty="0" smtClean="0">
                <a:latin typeface="Arial"/>
              </a:rPr>
              <a:t> </a:t>
            </a:r>
            <a:r>
              <a:rPr sz="1125" b="1" i="0" u="none" dirty="0">
                <a:latin typeface="Arial"/>
              </a:rPr>
              <a:t>a </a:t>
            </a:r>
            <a:r>
              <a:rPr lang="hu-HU" sz="1125" b="1" dirty="0" smtClean="0">
                <a:latin typeface="Arial"/>
              </a:rPr>
              <a:t>menübe</a:t>
            </a:r>
            <a:endParaRPr sz="1125" b="1" i="0" u="none" dirty="0">
              <a:latin typeface="Plus Jakarta Sans"/>
              <a:hlinkClick r:id="rId2" action="ppaction://hlinksldjump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5334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Arial"/>
              </a:rPr>
              <a:t>1. FUNKCIÓ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8650"/>
            <a:ext cx="56007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Megyei</a:t>
            </a:r>
            <a:r>
              <a:rPr sz="2400" b="1" i="0" u="none" dirty="0">
                <a:solidFill>
                  <a:srgbClr val="0F172A"/>
                </a:solidFill>
                <a:latin typeface="Arial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Adatok</a:t>
            </a:r>
            <a:r>
              <a:rPr sz="2400" b="1" i="0" u="none" dirty="0">
                <a:solidFill>
                  <a:srgbClr val="0F172A"/>
                </a:solidFill>
                <a:latin typeface="Arial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Lekérdezése</a:t>
            </a:r>
            <a:endParaRPr sz="2400" b="1" i="0" u="none" dirty="0">
              <a:solidFill>
                <a:srgbClr val="0F172A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6325" y="2503220"/>
            <a:ext cx="442659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 u="none" dirty="0" err="1">
                <a:latin typeface="Arial"/>
              </a:rPr>
              <a:t>Megyekód</a:t>
            </a:r>
            <a:r>
              <a:rPr sz="1400" i="0" u="none" dirty="0">
                <a:latin typeface="Arial"/>
              </a:rPr>
              <a:t> </a:t>
            </a:r>
            <a:r>
              <a:rPr sz="1400" i="0" u="none" dirty="0" err="1">
                <a:latin typeface="Arial"/>
              </a:rPr>
              <a:t>megadása</a:t>
            </a:r>
            <a:r>
              <a:rPr sz="1400" i="0" u="none" dirty="0">
                <a:latin typeface="Arial"/>
              </a:rPr>
              <a:t>: </a:t>
            </a:r>
            <a:r>
              <a:rPr sz="1400" i="0" u="none" dirty="0" err="1">
                <a:latin typeface="Arial"/>
              </a:rPr>
              <a:t>Felhasználói</a:t>
            </a:r>
            <a:r>
              <a:rPr sz="1400" i="0" u="none" dirty="0">
                <a:latin typeface="Arial"/>
              </a:rPr>
              <a:t> input </a:t>
            </a:r>
            <a:r>
              <a:rPr sz="1400" i="0" u="none" dirty="0" err="1" smtClean="0">
                <a:latin typeface="Arial"/>
              </a:rPr>
              <a:t>beolvasása</a:t>
            </a:r>
            <a:endParaRPr sz="1400" i="0" u="none" dirty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6325" y="3093770"/>
            <a:ext cx="442659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hu-HU" sz="1400" dirty="0">
                <a:latin typeface="Arial" panose="020B0604020202020204" pitchFamily="34" charset="0"/>
                <a:cs typeface="Arial" panose="020B0604020202020204" pitchFamily="34" charset="0"/>
              </a:rPr>
              <a:t>Települések </a:t>
            </a:r>
            <a:r>
              <a:rPr lang="hu-HU" sz="1400" dirty="0">
                <a:latin typeface="Arial"/>
              </a:rPr>
              <a:t>száma</a:t>
            </a:r>
            <a:r>
              <a:rPr lang="hu-HU" sz="1400" dirty="0">
                <a:latin typeface="Arial" panose="020B0604020202020204" pitchFamily="34" charset="0"/>
                <a:cs typeface="Arial" panose="020B0604020202020204" pitchFamily="34" charset="0"/>
              </a:rPr>
              <a:t> a megyében</a:t>
            </a:r>
            <a:endParaRPr sz="1400" b="1" i="0" u="none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6325" y="3686326"/>
            <a:ext cx="442659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hu-HU" sz="1400" dirty="0">
                <a:latin typeface="Arial" panose="020B0604020202020204" pitchFamily="34" charset="0"/>
                <a:cs typeface="Arial" panose="020B0604020202020204" pitchFamily="34" charset="0"/>
              </a:rPr>
              <a:t>Hányan élnek összesen a</a:t>
            </a:r>
            <a:r>
              <a:rPr lang="hu-HU" sz="1400" dirty="0">
                <a:latin typeface="Arial"/>
              </a:rPr>
              <a:t> </a:t>
            </a:r>
            <a:r>
              <a:rPr lang="hu-HU" sz="1400" dirty="0">
                <a:latin typeface="Arial" panose="020B0604020202020204" pitchFamily="34" charset="0"/>
                <a:cs typeface="Arial" panose="020B0604020202020204" pitchFamily="34" charset="0"/>
              </a:rPr>
              <a:t>megyében</a:t>
            </a:r>
            <a:endParaRPr sz="1400" b="1" i="0" u="none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12970"/>
            <a:ext cx="152400" cy="152400"/>
          </a:xfrm>
          <a:prstGeom prst="rect">
            <a:avLst/>
          </a:prstGeom>
        </p:spPr>
      </p:pic>
      <p:sp>
        <p:nvSpPr>
          <p:cNvPr id="23" name="Téglalap 22"/>
          <p:cNvSpPr/>
          <p:nvPr/>
        </p:nvSpPr>
        <p:spPr>
          <a:xfrm>
            <a:off x="762000" y="4231805"/>
            <a:ext cx="37578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1400" dirty="0">
                <a:latin typeface="Arial"/>
              </a:rPr>
              <a:t>Hányan</a:t>
            </a:r>
            <a:r>
              <a:rPr lang="hu-HU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élnek a városokban</a:t>
            </a:r>
            <a:endParaRPr lang="hu-HU" sz="1400" b="1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Kép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2894" y="1873464"/>
            <a:ext cx="6295008" cy="31992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hlinkClick r:id="rId2" action="ppaction://hlinksldjump"/>
          </p:cNvPr>
          <p:cNvSpPr/>
          <p:nvPr/>
        </p:nvSpPr>
        <p:spPr>
          <a:xfrm>
            <a:off x="9944100" y="547687"/>
            <a:ext cx="1638300" cy="371475"/>
          </a:xfrm>
          <a:prstGeom prst="roundRect">
            <a:avLst>
              <a:gd name="adj" fmla="val 1538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550" y="661987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227000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15575" y="646862"/>
            <a:ext cx="1190625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 dirty="0" smtClean="0">
                <a:latin typeface="Arial"/>
              </a:rPr>
              <a:t>V</a:t>
            </a:r>
            <a:r>
              <a:rPr lang="hu-HU" sz="1125" b="1" i="0" u="none" dirty="0" smtClean="0">
                <a:latin typeface="Arial"/>
              </a:rPr>
              <a:t>issza</a:t>
            </a:r>
            <a:r>
              <a:rPr sz="1125" b="1" i="0" u="none" dirty="0" smtClean="0">
                <a:latin typeface="Arial"/>
              </a:rPr>
              <a:t> </a:t>
            </a:r>
            <a:r>
              <a:rPr sz="1125" b="1" i="0" u="none" dirty="0">
                <a:latin typeface="Arial"/>
              </a:rPr>
              <a:t>a </a:t>
            </a:r>
            <a:r>
              <a:rPr lang="hu-HU" sz="1125" b="1" dirty="0" smtClean="0">
                <a:latin typeface="Arial"/>
              </a:rPr>
              <a:t>menübe</a:t>
            </a:r>
            <a:endParaRPr sz="1125" b="1" i="0" u="none" dirty="0">
              <a:latin typeface="Plus Jakarta Sans"/>
              <a:hlinkClick r:id="rId2" action="ppaction://hlinksldjump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5322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Arial"/>
              </a:rPr>
              <a:t>2. FUNKCIÓ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8650"/>
            <a:ext cx="558819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Település</a:t>
            </a:r>
            <a:r>
              <a:rPr sz="2400" b="1" i="0" u="none" dirty="0">
                <a:solidFill>
                  <a:srgbClr val="0F172A"/>
                </a:solidFill>
                <a:latin typeface="Arial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Típusok</a:t>
            </a:r>
            <a:r>
              <a:rPr sz="2400" b="1" i="0" u="none" dirty="0">
                <a:solidFill>
                  <a:srgbClr val="0F172A"/>
                </a:solidFill>
                <a:latin typeface="Arial"/>
              </a:rPr>
              <a:t> &amp; </a:t>
            </a:r>
            <a:r>
              <a:rPr sz="2400" b="1" i="0" u="none" dirty="0" err="1">
                <a:solidFill>
                  <a:srgbClr val="0F172A"/>
                </a:solidFill>
                <a:latin typeface="Arial"/>
              </a:rPr>
              <a:t>Lapozás</a:t>
            </a:r>
            <a:endParaRPr sz="2400" b="1" i="0" u="none" dirty="0">
              <a:solidFill>
                <a:srgbClr val="0F172A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5858" y="2095451"/>
            <a:ext cx="442659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 u="none" dirty="0" err="1">
                <a:latin typeface="Arial"/>
              </a:rPr>
              <a:t>Oldalankénti</a:t>
            </a:r>
            <a:r>
              <a:rPr sz="1400" i="0" u="none" dirty="0">
                <a:latin typeface="Arial"/>
              </a:rPr>
              <a:t> </a:t>
            </a:r>
            <a:r>
              <a:rPr sz="1400" i="0" u="none" dirty="0" err="1" smtClean="0">
                <a:latin typeface="Arial"/>
              </a:rPr>
              <a:t>Szeletelés</a:t>
            </a:r>
            <a:r>
              <a:rPr lang="hu-HU" sz="1400" dirty="0" smtClean="0">
                <a:latin typeface="Arial"/>
              </a:rPr>
              <a:t>: </a:t>
            </a:r>
            <a:r>
              <a:rPr sz="1400" i="0" u="none" dirty="0" err="1" smtClean="0">
                <a:latin typeface="Arial"/>
              </a:rPr>
              <a:t>Egyszerre</a:t>
            </a:r>
            <a:r>
              <a:rPr sz="1400" i="0" u="none" dirty="0" smtClean="0">
                <a:latin typeface="Arial"/>
              </a:rPr>
              <a:t> </a:t>
            </a:r>
            <a:r>
              <a:rPr sz="1400" i="0" u="none" dirty="0" err="1">
                <a:latin typeface="Arial"/>
              </a:rPr>
              <a:t>pontosan</a:t>
            </a:r>
            <a:r>
              <a:rPr sz="1400" i="0" u="none" dirty="0">
                <a:latin typeface="Arial"/>
              </a:rPr>
              <a:t> 4 </a:t>
            </a:r>
            <a:r>
              <a:rPr sz="1400" i="0" u="none" dirty="0" err="1">
                <a:latin typeface="Arial"/>
              </a:rPr>
              <a:t>elem</a:t>
            </a:r>
            <a:r>
              <a:rPr sz="1400" i="0" u="none" dirty="0">
                <a:latin typeface="Arial"/>
              </a:rPr>
              <a:t> </a:t>
            </a:r>
            <a:r>
              <a:rPr sz="1400" i="0" u="none" dirty="0" err="1">
                <a:latin typeface="Arial"/>
              </a:rPr>
              <a:t>megjelenítése</a:t>
            </a:r>
            <a:r>
              <a:rPr sz="1400" i="0" u="none" dirty="0">
                <a:latin typeface="Arial"/>
              </a:rPr>
              <a:t>.</a:t>
            </a:r>
          </a:p>
        </p:txBody>
      </p:sp>
      <p:pic>
        <p:nvPicPr>
          <p:cNvPr id="21" name="Kép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155" y="1306353"/>
            <a:ext cx="1810003" cy="14003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Kép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7801" y="3559884"/>
            <a:ext cx="3280712" cy="27327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3" name="Kép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079585"/>
            <a:ext cx="5087060" cy="14384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4" name="Lefelé nyíl 23"/>
          <p:cNvSpPr/>
          <p:nvPr/>
        </p:nvSpPr>
        <p:spPr>
          <a:xfrm>
            <a:off x="9481056" y="2796466"/>
            <a:ext cx="334199" cy="674703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457200"/>
            <a:ext cx="88806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hu-HU" sz="1050" b="1" dirty="0" smtClean="0">
                <a:solidFill>
                  <a:srgbClr val="0284C7"/>
                </a:solidFill>
                <a:latin typeface="Arial"/>
              </a:rPr>
              <a:t>KIEGÉSZÍTÉS</a:t>
            </a:r>
            <a:endParaRPr lang="hu-HU" sz="1050" b="1" i="0" u="none" dirty="0">
              <a:solidFill>
                <a:srgbClr val="0284C7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600" y="707613"/>
            <a:ext cx="670696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hu-HU" sz="2400" b="1" i="0" u="none" dirty="0" smtClean="0">
                <a:solidFill>
                  <a:srgbClr val="0F172A"/>
                </a:solidFill>
                <a:latin typeface="Arial"/>
              </a:rPr>
              <a:t>Program visszajelzése a felhasználó számára</a:t>
            </a:r>
            <a:endParaRPr sz="2400" b="1" i="0" u="none" dirty="0">
              <a:solidFill>
                <a:srgbClr val="0F172A"/>
              </a:solidFill>
              <a:latin typeface="Arial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670" y="2500193"/>
            <a:ext cx="3200847" cy="6954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564" y="3549839"/>
            <a:ext cx="4143953" cy="8859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25891"/>
            <a:ext cx="5134692" cy="14098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TextBox 18"/>
          <p:cNvSpPr txBox="1"/>
          <p:nvPr/>
        </p:nvSpPr>
        <p:spPr>
          <a:xfrm>
            <a:off x="609600" y="1662741"/>
            <a:ext cx="3198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600" i="0" u="none" dirty="0" smtClean="0">
                <a:latin typeface="Arial"/>
              </a:rPr>
              <a:t>Hibajelzés a menüben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600" dirty="0" smtClean="0">
                <a:latin typeface="Arial"/>
              </a:rPr>
              <a:t>Hibajelzés az összes funkciónál</a:t>
            </a:r>
            <a:endParaRPr sz="1600" i="0" u="none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464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457200"/>
            <a:ext cx="88806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hu-HU" sz="1050" b="1" dirty="0" smtClean="0">
                <a:solidFill>
                  <a:srgbClr val="0284C7"/>
                </a:solidFill>
                <a:latin typeface="Arial"/>
              </a:rPr>
              <a:t>KIEGÉSZÍTÉS</a:t>
            </a:r>
            <a:endParaRPr lang="hu-HU" sz="1050" b="1" i="0" u="none" dirty="0">
              <a:solidFill>
                <a:srgbClr val="0284C7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600" y="707613"/>
            <a:ext cx="670696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hu-HU" sz="2400" b="1" i="0" u="none" dirty="0" smtClean="0">
                <a:solidFill>
                  <a:srgbClr val="0F172A"/>
                </a:solidFill>
                <a:latin typeface="Arial"/>
              </a:rPr>
              <a:t>Program visszajelzése a felhasználó számára</a:t>
            </a:r>
            <a:endParaRPr sz="2400" b="1" i="0" u="none" dirty="0">
              <a:solidFill>
                <a:srgbClr val="0F172A"/>
              </a:solidFill>
              <a:latin typeface="Arial"/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149" y="2693547"/>
            <a:ext cx="3887902" cy="19070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51" y="2693547"/>
            <a:ext cx="4734586" cy="19147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18"/>
          <p:cNvSpPr txBox="1"/>
          <p:nvPr/>
        </p:nvSpPr>
        <p:spPr>
          <a:xfrm>
            <a:off x="609600" y="1662741"/>
            <a:ext cx="31989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600" i="0" u="none" dirty="0" smtClean="0">
                <a:latin typeface="Arial"/>
              </a:rPr>
              <a:t>Visszajelzés a lapozásnál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600" dirty="0" smtClean="0">
                <a:latin typeface="Arial"/>
              </a:rPr>
              <a:t>Menübe való visszatérés esetén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600" dirty="0" smtClean="0">
                <a:latin typeface="Arial"/>
              </a:rPr>
              <a:t>Programból való kilépéskor </a:t>
            </a:r>
            <a:endParaRPr sz="1600" i="0" u="none" dirty="0">
              <a:latin typeface="Arial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921" y="5033646"/>
            <a:ext cx="3998769" cy="14250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037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457200"/>
            <a:ext cx="88806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hu-HU" sz="1050" b="1" dirty="0" smtClean="0">
                <a:solidFill>
                  <a:srgbClr val="0284C7"/>
                </a:solidFill>
                <a:latin typeface="Arial"/>
              </a:rPr>
              <a:t>KIEGÉSZÍTÉS</a:t>
            </a:r>
            <a:endParaRPr lang="hu-HU" sz="1050" b="1" i="0" u="none" dirty="0">
              <a:solidFill>
                <a:srgbClr val="0284C7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600" y="707613"/>
            <a:ext cx="863858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hu-HU" sz="2400" b="1" i="0" u="none" dirty="0" smtClean="0">
                <a:solidFill>
                  <a:srgbClr val="0F172A"/>
                </a:solidFill>
                <a:latin typeface="Arial"/>
              </a:rPr>
              <a:t>Eszközök, melyeket felhasználtunk a program készítésekor</a:t>
            </a:r>
            <a:endParaRPr sz="2400" b="1" i="0" u="none" dirty="0">
              <a:solidFill>
                <a:srgbClr val="0F172A"/>
              </a:solidFill>
              <a:latin typeface="Arial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885" y="1946826"/>
            <a:ext cx="5846704" cy="1497521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83" y="4575293"/>
            <a:ext cx="3667637" cy="685896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256" y="4674470"/>
            <a:ext cx="4515556" cy="487541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570" y="5103251"/>
            <a:ext cx="2762636" cy="1533739"/>
          </a:xfrm>
          <a:prstGeom prst="rect">
            <a:avLst/>
          </a:prstGeom>
        </p:spPr>
      </p:pic>
      <p:cxnSp>
        <p:nvCxnSpPr>
          <p:cNvPr id="14" name="Egyenes összekötő nyíllal 13"/>
          <p:cNvCxnSpPr/>
          <p:nvPr/>
        </p:nvCxnSpPr>
        <p:spPr>
          <a:xfrm flipH="1">
            <a:off x="2290440" y="2574524"/>
            <a:ext cx="1195763" cy="1890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/>
          <p:cNvCxnSpPr/>
          <p:nvPr/>
        </p:nvCxnSpPr>
        <p:spPr>
          <a:xfrm>
            <a:off x="5493503" y="3266983"/>
            <a:ext cx="453" cy="1722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nyíllal 17"/>
          <p:cNvCxnSpPr/>
          <p:nvPr/>
        </p:nvCxnSpPr>
        <p:spPr>
          <a:xfrm>
            <a:off x="6190237" y="2938509"/>
            <a:ext cx="2119262" cy="1636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35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143</Words>
  <Application>Microsoft Office PowerPoint</Application>
  <PresentationFormat>Szélesvásznú</PresentationFormat>
  <Paragraphs>38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Calibri</vt:lpstr>
      <vt:lpstr>Arial</vt:lpstr>
      <vt:lpstr>Plus Jakarta Sans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Dávid</dc:creator>
  <cp:keywords/>
  <dc:description>generated using python-pptx</dc:description>
  <cp:lastModifiedBy>Dávid</cp:lastModifiedBy>
  <cp:revision>12</cp:revision>
  <dcterms:created xsi:type="dcterms:W3CDTF">2013-01-27T09:14:16Z</dcterms:created>
  <dcterms:modified xsi:type="dcterms:W3CDTF">2026-09-22T16:16:31Z</dcterms:modified>
  <cp:category/>
</cp:coreProperties>
</file>